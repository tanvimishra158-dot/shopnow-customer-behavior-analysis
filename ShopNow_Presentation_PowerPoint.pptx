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(20–25 sec): Hi everyone. For Homework 2, I used the ShopNow dataset to test spending differences, conversion patterns and browsing behaviour. My main takeaway is that we should not confuse a visible difference with a statistically supported or practically valuable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(35–40 sec): First I compared average transaction values for countries, discounts, gender, and marketing channels. While some groups show a slightly higher average, all four p-values are above 0.05. For example, Germany averaged about 239 dollars compared with about 235 in the UK, so I cannot claim UK customers spend more. These tests alone do not justify segment-specific price or spend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(35 sec): I used a chi-square test to check whether device type was associated with conversion. Desktop, mobile, and tablet rates were 13.29, 13.08 and 12.96 percent, and the p-value was 0.563. So we found no statistically significant association. As a separate challenge I compared logged-in and guest visitors; their rates were also similar, with p=0.841. I would avoid prioritizing a device solely on these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(30–35 sec): I also examined three Pearson correlations. Time on site versus purchase value was r approximately 0.009, pages viewed versus purchase value r about minus 0.018, and time on site versus page views r about 0.0045. All p-values are above 0.05, so the analysis did not identify statistically significant linear correlations. Time and number of pages by themselves are weak spending indicators.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(40 sec): This is my favorite finding. Converted visits averaged 311.19 time units versus 299.24 for non-converted visits. The difference is statistically significant, p below 0.001, but Cohen’s d is only about 0.10, which is a very small standardized effect. With a very large sample, even small differences can be statistically significant. That does not prove spending more time caused conversion, nor does it mean a costly redesign would pay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(35–40 sec): My recommendation is to prioritize metrics that connect to actual business outcomes—like profitability, acquisition cost and retention—rather than using p-values alone. I would also standardize data categories before testing segments, and investigate intent and checkout behaviour in future work. For our Week 3 SQL homework, I also wanted to ask where we can access the PostgreSQL database and SSH connection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0B2D27"/>
          </a:solidFill>
          <a:ln w="12700">
            <a:solidFill>
              <a:srgbClr val="0B2D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57784" y="658368"/>
            <a:ext cx="1481328" cy="338328"/>
          </a:xfrm>
          <a:prstGeom prst="roundRect">
            <a:avLst>
              <a:gd name="adj" fmla="val 21622"/>
            </a:avLst>
          </a:prstGeom>
          <a:solidFill>
            <a:srgbClr val="D9E8DE"/>
          </a:solidFill>
          <a:ln w="12700">
            <a:solidFill>
              <a:srgbClr val="D9E8D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67512" y="758952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SHOPNOW  •  ANALYTICS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1362456"/>
            <a:ext cx="7863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the data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really tell us?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40080" y="318211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9E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testing, customer behaviour and business decisions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041648"/>
            <a:ext cx="7296912" cy="0"/>
          </a:xfrm>
          <a:prstGeom prst="line">
            <a:avLst/>
          </a:prstGeom>
          <a:noFill/>
          <a:ln w="19050">
            <a:solidFill>
              <a:srgbClr val="6A948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4088" y="4389120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4088" y="49926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2E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questions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3218688" y="4389120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18688" y="49926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2E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challenges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5733288" y="4389120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733288" y="49926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2E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lesson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9098280" y="1371600"/>
            <a:ext cx="2148840" cy="2148840"/>
          </a:xfrm>
          <a:prstGeom prst="ellipse">
            <a:avLst/>
          </a:prstGeom>
          <a:solidFill>
            <a:srgbClr val="0B2D27">
              <a:alpha val="0"/>
            </a:srgbClr>
          </a:solidFill>
          <a:ln w="228600">
            <a:solidFill>
              <a:srgbClr val="6FA083">
                <a:alpha val="9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454896" y="1746504"/>
            <a:ext cx="1444752" cy="1444752"/>
          </a:xfrm>
          <a:prstGeom prst="ellipse">
            <a:avLst/>
          </a:prstGeom>
          <a:solidFill>
            <a:srgbClr val="0B2D27"/>
          </a:solidFill>
          <a:ln w="12700">
            <a:solidFill>
              <a:srgbClr val="0B2D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308592" y="2221992"/>
            <a:ext cx="1755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  =  .05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098280" y="40782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9E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9464040" y="45811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EB6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98280" y="50017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9E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noise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676656" y="633679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spc="80" kern="0" dirty="0">
                <a:solidFill>
                  <a:srgbClr val="BBD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TANVI MISHRA   /   PROJECT PRESENTATION</a:t>
            </a:r>
            <a:endParaRPr lang="en-US" sz="10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 w="12700">
            <a:solidFill>
              <a:srgbClr val="F7F9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3566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SHOPNOW   /   DATA ANALYTICS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2237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Spending gaps are visible — not decisive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85216" y="1417320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One-sided or two-sided Welch t-tests, as appropriate  •  Significance threshold: p &lt; 0.05</a:t>
            </a:r>
            <a:endParaRPr lang="en-US" sz="1270" dirty="0"/>
          </a:p>
        </p:txBody>
      </p:sp>
      <p:sp>
        <p:nvSpPr>
          <p:cNvPr id="7" name="Shape 5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270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655624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TANVI MISHRA  •  DATA ANALYTICS APPRENTICESHIP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844784" y="653796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06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713232" y="1984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984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27648" y="1984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0" y="19842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P-VALUE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" y="2322576"/>
            <a:ext cx="10890504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" y="24688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A2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 vs Germany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3657600" y="245516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$234.84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27648" y="245516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$239.03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961120" y="2441448"/>
            <a:ext cx="1170432" cy="338328"/>
          </a:xfrm>
          <a:prstGeom prst="roundRect">
            <a:avLst>
              <a:gd name="adj" fmla="val 27027"/>
            </a:avLst>
          </a:prstGeom>
          <a:solidFill>
            <a:srgbClr val="ECF3EE"/>
          </a:solidFill>
          <a:ln w="12700">
            <a:solidFill>
              <a:srgbClr val="ECF3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070848" y="2510028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0.805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30936" y="3026664"/>
            <a:ext cx="10890504" cy="594360"/>
          </a:xfrm>
          <a:prstGeom prst="roundRect">
            <a:avLst>
              <a:gd name="adj" fmla="val 16923"/>
            </a:avLst>
          </a:prstGeom>
          <a:solidFill>
            <a:srgbClr val="F1F5F0"/>
          </a:solidFill>
          <a:ln w="12700">
            <a:solidFill>
              <a:srgbClr val="F1F5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3172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A2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Discounted vs not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3657600" y="315925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$235.61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327648" y="315925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$234.56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961120" y="3145536"/>
            <a:ext cx="1170432" cy="338328"/>
          </a:xfrm>
          <a:prstGeom prst="roundRect">
            <a:avLst>
              <a:gd name="adj" fmla="val 27027"/>
            </a:avLst>
          </a:prstGeom>
          <a:solidFill>
            <a:srgbClr val="ECF3EE"/>
          </a:solidFill>
          <a:ln w="12700">
            <a:solidFill>
              <a:srgbClr val="ECF3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070848" y="3214116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0.688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30936" y="3730752"/>
            <a:ext cx="10890504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3232" y="38770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A2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vs female</a:t>
            </a:r>
            <a:endParaRPr lang="en-US" sz="1370" dirty="0"/>
          </a:p>
        </p:txBody>
      </p:sp>
      <p:sp>
        <p:nvSpPr>
          <p:cNvPr id="28" name="Text 26"/>
          <p:cNvSpPr/>
          <p:nvPr/>
        </p:nvSpPr>
        <p:spPr>
          <a:xfrm>
            <a:off x="3657600" y="386334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$234.81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327648" y="386334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$235.94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8961120" y="3849624"/>
            <a:ext cx="1170432" cy="338328"/>
          </a:xfrm>
          <a:prstGeom prst="roundRect">
            <a:avLst>
              <a:gd name="adj" fmla="val 27027"/>
            </a:avLst>
          </a:prstGeom>
          <a:solidFill>
            <a:srgbClr val="ECF3EE"/>
          </a:solidFill>
          <a:ln w="12700">
            <a:solidFill>
              <a:srgbClr val="ECF3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070848" y="3918204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0.698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30936" y="4434840"/>
            <a:ext cx="10890504" cy="594360"/>
          </a:xfrm>
          <a:prstGeom prst="roundRect">
            <a:avLst>
              <a:gd name="adj" fmla="val 16923"/>
            </a:avLst>
          </a:prstGeom>
          <a:solidFill>
            <a:srgbClr val="F1F5F0"/>
          </a:solidFill>
          <a:ln w="12700">
            <a:solidFill>
              <a:srgbClr val="F1F5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13232" y="45811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A2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vs social</a:t>
            </a:r>
            <a:endParaRPr lang="en-US" sz="1370" dirty="0"/>
          </a:p>
        </p:txBody>
      </p:sp>
      <p:sp>
        <p:nvSpPr>
          <p:cNvPr id="34" name="Text 32"/>
          <p:cNvSpPr/>
          <p:nvPr/>
        </p:nvSpPr>
        <p:spPr>
          <a:xfrm>
            <a:off x="3657600" y="45674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$236.82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327648" y="45674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$232.19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8961120" y="4553712"/>
            <a:ext cx="1170432" cy="338328"/>
          </a:xfrm>
          <a:prstGeom prst="roundRect">
            <a:avLst>
              <a:gd name="adj" fmla="val 27027"/>
            </a:avLst>
          </a:prstGeom>
          <a:solidFill>
            <a:srgbClr val="ECF3EE"/>
          </a:solidFill>
          <a:ln w="12700">
            <a:solidFill>
              <a:srgbClr val="ECF3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070848" y="4622292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0.107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40080" y="5385816"/>
            <a:ext cx="10881360" cy="685800"/>
          </a:xfrm>
          <a:prstGeom prst="roundRect">
            <a:avLst>
              <a:gd name="adj" fmla="val 16000"/>
            </a:avLst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77824" y="556869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Interpretation: none of these comparisons is statistically significant at 5%.</a:t>
            </a:r>
            <a:endParaRPr lang="en-US" sz="1620" dirty="0"/>
          </a:p>
        </p:txBody>
      </p:sp>
      <p:sp>
        <p:nvSpPr>
          <p:cNvPr id="40" name="Text 38"/>
          <p:cNvSpPr/>
          <p:nvPr/>
        </p:nvSpPr>
        <p:spPr>
          <a:xfrm>
            <a:off x="694944" y="62179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source: ShopNow analysis, Q1–Q4. Values represent average purchase value per transaction.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 w="12700">
            <a:solidFill>
              <a:srgbClr val="F7F9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3566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SHOPNOW   /   DATA ANALYTICS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2237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is similar across device types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85216" y="1417320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Chi-square independence test  •  χ² = 1.15  •  p = 0.563</a:t>
            </a:r>
            <a:endParaRPr lang="en-US" sz="1270" dirty="0"/>
          </a:p>
        </p:txBody>
      </p:sp>
      <p:sp>
        <p:nvSpPr>
          <p:cNvPr id="7" name="Shape 5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270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655624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TANVI MISHRA  •  DATA ANALYTICS APPRENTICESHIP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844784" y="653796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06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6784848" cy="3977640"/>
          </a:xfrm>
          <a:prstGeom prst="roundRect">
            <a:avLst>
              <a:gd name="adj" fmla="val 3908"/>
            </a:avLst>
          </a:prstGeom>
          <a:solidFill>
            <a:srgbClr val="FFFFFF"/>
          </a:solidFill>
          <a:ln w="889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3042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 BY DEVICE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78408" y="3072384"/>
            <a:ext cx="5029200" cy="338328"/>
          </a:xfrm>
          <a:prstGeom prst="roundRect">
            <a:avLst>
              <a:gd name="adj" fmla="val 21622"/>
            </a:avLst>
          </a:prstGeom>
          <a:solidFill>
            <a:srgbClr val="ECF3EE"/>
          </a:solidFill>
          <a:ln w="12700">
            <a:solidFill>
              <a:srgbClr val="ECF3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78408" y="3072384"/>
            <a:ext cx="4455297" cy="338328"/>
          </a:xfrm>
          <a:prstGeom prst="roundRect">
            <a:avLst>
              <a:gd name="adj" fmla="val 21622"/>
            </a:avLst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9264" y="2715768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305409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13.29%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78408" y="4096512"/>
            <a:ext cx="5029200" cy="338328"/>
          </a:xfrm>
          <a:prstGeom prst="roundRect">
            <a:avLst>
              <a:gd name="adj" fmla="val 21622"/>
            </a:avLst>
          </a:prstGeom>
          <a:solidFill>
            <a:srgbClr val="ECF3EE"/>
          </a:solidFill>
          <a:ln w="12700">
            <a:solidFill>
              <a:srgbClr val="ECF3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78408" y="4096512"/>
            <a:ext cx="4385817" cy="338328"/>
          </a:xfrm>
          <a:prstGeom prst="roundRect">
            <a:avLst>
              <a:gd name="adj" fmla="val 21622"/>
            </a:avLst>
          </a:prstGeom>
          <a:solidFill>
            <a:srgbClr val="719E86"/>
          </a:solidFill>
          <a:ln w="12700">
            <a:solidFill>
              <a:srgbClr val="719E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9264" y="3739896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407822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13.08%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78408" y="5120640"/>
            <a:ext cx="5029200" cy="338328"/>
          </a:xfrm>
          <a:prstGeom prst="roundRect">
            <a:avLst>
              <a:gd name="adj" fmla="val 21622"/>
            </a:avLst>
          </a:prstGeom>
          <a:solidFill>
            <a:srgbClr val="ECF3EE"/>
          </a:solidFill>
          <a:ln w="12700">
            <a:solidFill>
              <a:srgbClr val="ECF3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78408" y="5120640"/>
            <a:ext cx="4343633" cy="338328"/>
          </a:xfrm>
          <a:prstGeom prst="roundRect">
            <a:avLst>
              <a:gd name="adj" fmla="val 21622"/>
            </a:avLst>
          </a:prstGeom>
          <a:solidFill>
            <a:srgbClr val="A8C8B5"/>
          </a:solidFill>
          <a:ln w="12700">
            <a:solidFill>
              <a:srgbClr val="A8C8B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69264" y="4764024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510235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12.96%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662672" y="2011680"/>
            <a:ext cx="3858768" cy="1828800"/>
          </a:xfrm>
          <a:prstGeom prst="roundRect">
            <a:avLst>
              <a:gd name="adj" fmla="val 7500"/>
            </a:avLst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973568" y="2359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B2D4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91856" y="2761488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detected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association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7662672" y="4023360"/>
            <a:ext cx="3858768" cy="1965960"/>
          </a:xfrm>
          <a:prstGeom prst="roundRect">
            <a:avLst>
              <a:gd name="adj" fmla="val 6977"/>
            </a:avLst>
          </a:prstGeom>
          <a:solidFill>
            <a:srgbClr val="D9E8DE"/>
          </a:solidFill>
          <a:ln w="12700">
            <a:solidFill>
              <a:srgbClr val="D9E8D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982712" y="4343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ADDITIONAL CHECK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73568" y="475488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Guest: 13.13%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Logged in: 13.07%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973568" y="557784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test p = 0.841</a:t>
            </a:r>
            <a:endParaRPr lang="en-US" sz="1190" dirty="0"/>
          </a:p>
        </p:txBody>
      </p:sp>
      <p:sp>
        <p:nvSpPr>
          <p:cNvPr id="31" name="Text 29"/>
          <p:cNvSpPr/>
          <p:nvPr/>
        </p:nvSpPr>
        <p:spPr>
          <a:xfrm>
            <a:off x="731520" y="6208776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Implication: improve the shopping journey across devices and login states.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 w="12700">
            <a:solidFill>
              <a:srgbClr val="F7F9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3566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SHOPNOW   /   DATA ANALYTICS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2237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Browsing more does not imply spending more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85216" y="1417320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Pearson correlation tested linear relationships in the ShopNow data</a:t>
            </a:r>
            <a:endParaRPr lang="en-US" sz="1270" dirty="0"/>
          </a:p>
        </p:txBody>
      </p:sp>
      <p:sp>
        <p:nvSpPr>
          <p:cNvPr id="7" name="Shape 5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270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655624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TANVI MISHRA  •  DATA ANALYTICS APPRENTICESHIP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844784" y="653796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06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640080" y="2157984"/>
            <a:ext cx="3511296" cy="3090672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889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77824" y="2468880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ON SITE ↔ PURCHASE VALUE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980944"/>
            <a:ext cx="2834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+0.0094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77824" y="363931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Pearson 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160520"/>
            <a:ext cx="3017520" cy="0"/>
          </a:xfrm>
          <a:prstGeom prst="line">
            <a:avLst/>
          </a:prstGeom>
          <a:noFill/>
          <a:ln w="1270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43159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= 0.350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48463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A2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Essentially zero linear association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61688" y="2157984"/>
            <a:ext cx="3511296" cy="3090672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889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99432" y="2468880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VIEWED ↔ PURCHASE VALUE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0288" y="2980944"/>
            <a:ext cx="2834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−0.0183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99432" y="363931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Pearson 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90288" y="4160520"/>
            <a:ext cx="3017520" cy="0"/>
          </a:xfrm>
          <a:prstGeom prst="line">
            <a:avLst/>
          </a:prstGeom>
          <a:noFill/>
          <a:ln w="1270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90288" y="43159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= 0.069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590288" y="48463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A2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Very weak negative association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83296" y="2157984"/>
            <a:ext cx="3511296" cy="3090672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889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321040" y="2468880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ON SITE ↔ PAGES VIEWED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11896" y="2980944"/>
            <a:ext cx="2834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+0.0045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321040" y="363931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Pearson 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11896" y="4160520"/>
            <a:ext cx="3017520" cy="0"/>
          </a:xfrm>
          <a:prstGeom prst="line">
            <a:avLst/>
          </a:prstGeom>
          <a:noFill/>
          <a:ln w="1270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311896" y="43159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= 0.229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311896" y="48463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A2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Essentially zero linear association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6656" y="5513832"/>
            <a:ext cx="10808208" cy="484632"/>
          </a:xfrm>
          <a:prstGeom prst="roundRect">
            <a:avLst>
              <a:gd name="adj" fmla="val 22642"/>
            </a:avLst>
          </a:prstGeom>
          <a:solidFill>
            <a:srgbClr val="ECF3EE"/>
          </a:solidFill>
          <a:ln w="12700">
            <a:solidFill>
              <a:srgbClr val="ECF3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96112" y="5614416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step: test buyer intent, product mix, checkout friction and repeat behaviour.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 w="12700">
            <a:solidFill>
              <a:srgbClr val="F7F9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3566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SHOPNOW   /   DATA ANALYTICS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2237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does not mean important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85216" y="1417320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3  •  Converted and non-converted session time</a:t>
            </a:r>
            <a:endParaRPr lang="en-US" sz="1270" dirty="0"/>
          </a:p>
        </p:txBody>
      </p:sp>
      <p:sp>
        <p:nvSpPr>
          <p:cNvPr id="7" name="Shape 5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270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655624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TANVI MISHRA  •  DATA ANALYTICS APPRENTICESHIP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844784" y="653796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06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658368" y="1984248"/>
            <a:ext cx="6464808" cy="4014216"/>
          </a:xfrm>
          <a:prstGeom prst="roundRect">
            <a:avLst>
              <a:gd name="adj" fmla="val 3872"/>
            </a:avLst>
          </a:prstGeom>
          <a:solidFill>
            <a:srgbClr val="FFFFFF"/>
          </a:solidFill>
          <a:ln w="889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32688" y="22677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TIME ON SITE  /  DATASET UNITS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43584" y="3185142"/>
            <a:ext cx="1216152" cy="2036082"/>
          </a:xfrm>
          <a:prstGeom prst="roundRect">
            <a:avLst>
              <a:gd name="adj" fmla="val 3759"/>
            </a:avLst>
          </a:prstGeom>
          <a:solidFill>
            <a:srgbClr val="A8C8B5"/>
          </a:solidFill>
          <a:ln w="12700">
            <a:solidFill>
              <a:srgbClr val="A8C8B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52144" y="277366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299.24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96112" y="5358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Non-converted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3103788"/>
            <a:ext cx="1216152" cy="2117436"/>
          </a:xfrm>
          <a:prstGeom prst="roundRect">
            <a:avLst>
              <a:gd name="adj" fmla="val 3759"/>
            </a:avLst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49040" y="269230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311.19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493008" y="5358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06640" y="1984248"/>
            <a:ext cx="4123944" cy="1115568"/>
          </a:xfrm>
          <a:prstGeom prst="roundRect">
            <a:avLst>
              <a:gd name="adj" fmla="val 9836"/>
            </a:avLst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671816" y="22494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B9D5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TEST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0" y="25328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&lt; 0.001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406640" y="3264408"/>
            <a:ext cx="4123944" cy="1115568"/>
          </a:xfrm>
          <a:prstGeom prst="roundRect">
            <a:avLst>
              <a:gd name="adj" fmla="val 9836"/>
            </a:avLst>
          </a:prstGeom>
          <a:solidFill>
            <a:srgbClr val="D9E8DE"/>
          </a:solidFill>
          <a:ln w="12700">
            <a:solidFill>
              <a:srgbClr val="D9E8D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71816" y="35112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 SIZE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62672" y="38130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Cohen's d = 0.10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06640" y="4572000"/>
            <a:ext cx="4123944" cy="1444752"/>
          </a:xfrm>
          <a:prstGeom prst="roundRect">
            <a:avLst>
              <a:gd name="adj" fmla="val 7595"/>
            </a:avLst>
          </a:prstGeom>
          <a:solidFill>
            <a:srgbClr val="EAF0EA"/>
          </a:solidFill>
          <a:ln w="12700">
            <a:solidFill>
              <a:srgbClr val="EAF0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671816" y="4800600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11.96 units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671816" y="5257800"/>
            <a:ext cx="3465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Difference in average time: statistically detectable, but a very small standardized effect.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2376" y="6245352"/>
            <a:ext cx="10908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judge effect size, cost and business outcomes — not just p-values.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 w="12700">
            <a:solidFill>
              <a:srgbClr val="F7F9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3566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719E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SHOPNOW   /   DATA ANALYTICS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2237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statistical tests to better decisions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85216" y="1417320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ShopNow investigate next?</a:t>
            </a:r>
            <a:endParaRPr lang="en-US" sz="1270" dirty="0"/>
          </a:p>
        </p:txBody>
      </p:sp>
      <p:sp>
        <p:nvSpPr>
          <p:cNvPr id="7" name="Shape 5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270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655624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TANVI MISHRA  •  DATA ANALYTICS APPRENTICESHIP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844784" y="6537960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06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658368" y="2029968"/>
            <a:ext cx="7680960" cy="996696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 w="889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50392" y="2267712"/>
            <a:ext cx="493776" cy="438912"/>
          </a:xfrm>
          <a:prstGeom prst="roundRect">
            <a:avLst>
              <a:gd name="adj" fmla="val 20833"/>
            </a:avLst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23544" y="23774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545336" y="2194560"/>
            <a:ext cx="6428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business outcomes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545336" y="2532888"/>
            <a:ext cx="6428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conversion alongside contribution margin, acquisition cost and customer lifetime value.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58368" y="3191256"/>
            <a:ext cx="7680960" cy="996696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 w="889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50392" y="3429000"/>
            <a:ext cx="493776" cy="438912"/>
          </a:xfrm>
          <a:prstGeom prst="roundRect">
            <a:avLst>
              <a:gd name="adj" fmla="val 20833"/>
            </a:avLst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23544" y="35387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545336" y="3355848"/>
            <a:ext cx="6428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before segmenting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45336" y="3694176"/>
            <a:ext cx="6428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categories (e.g., Email/email) and confirm differences before targeting.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58368" y="4352544"/>
            <a:ext cx="7680960" cy="996696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 w="8890">
            <a:solidFill>
              <a:srgbClr val="E6ECE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50392" y="4590288"/>
            <a:ext cx="493776" cy="438912"/>
          </a:xfrm>
          <a:prstGeom prst="roundRect">
            <a:avLst>
              <a:gd name="adj" fmla="val 20833"/>
            </a:avLst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23544" y="4700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545336" y="4517136"/>
            <a:ext cx="6428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intent, not just clicks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545336" y="4855464"/>
            <a:ext cx="6428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product interest, repeat purchasing and checkout friction through controlled experiments.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604504" y="2029968"/>
            <a:ext cx="2862072" cy="3410712"/>
          </a:xfrm>
          <a:prstGeom prst="roundRect">
            <a:avLst>
              <a:gd name="adj" fmla="val 4473"/>
            </a:avLst>
          </a:prstGeom>
          <a:solidFill>
            <a:srgbClr val="133F34"/>
          </a:solidFill>
          <a:ln w="12700">
            <a:solidFill>
              <a:srgbClr val="133F3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15400" y="23865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B7D2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15400" y="2926080"/>
            <a:ext cx="22860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matters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than 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p-value?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915400" y="4507992"/>
            <a:ext cx="2240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3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follow-up analysis would be most useful to the business?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685800" y="5724144"/>
            <a:ext cx="10771632" cy="429768"/>
          </a:xfrm>
          <a:prstGeom prst="roundRect">
            <a:avLst>
              <a:gd name="adj" fmla="val 21277"/>
            </a:avLst>
          </a:prstGeom>
          <a:solidFill>
            <a:srgbClr val="D9E8DE"/>
          </a:solidFill>
          <a:ln w="12700">
            <a:solidFill>
              <a:srgbClr val="D9E8D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86968" y="5824728"/>
            <a:ext cx="10241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33F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TOOLS: Python • Pandas • SciPy • Matplotlib • Jupyter Notebook.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Individual Data Analytics Apprenticeship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ShopNow Presentation | Customer Behavior and Statistical Analysis</dc:title>
  <dc:subject>Business-focused statistical analysis presentation</dc:subject>
  <dc:creator>Tanvi Mishra</dc:creator>
  <cp:lastModifiedBy>Tanvi Mishra</cp:lastModifiedBy>
  <cp:revision>1</cp:revision>
  <dcterms:created xsi:type="dcterms:W3CDTF">2026-10-16T20:13:09Z</dcterms:created>
  <dcterms:modified xsi:type="dcterms:W3CDTF">2026-10-16T20:13:09Z</dcterms:modified>
</cp:coreProperties>
</file>